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prior no-shows</c:v>
                </c:pt>
              </c:strCache>
            </c:strRef>
          </c:tx>
          <c:spPr>
            <a:solidFill>
              <a:srgbClr val="2E539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0-7 days</c:v>
                  </c:pt>
                  <c:pt idx="1">
                    <c:v>8-30 days</c:v>
                  </c:pt>
                  <c:pt idx="2">
                    <c:v>31+ days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21.8</c:v>
                </c:pt>
                <c:pt idx="1">
                  <c:v>36.2</c:v>
                </c:pt>
                <c:pt idx="2">
                  <c:v>55.2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Has prior no-shows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0-7 days</c:v>
                  </c:pt>
                  <c:pt idx="1">
                    <c:v>8-30 days</c:v>
                  </c:pt>
                  <c:pt idx="2">
                    <c:v>31+ days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36.2</c:v>
                </c:pt>
                <c:pt idx="1">
                  <c:v>46</c:v>
                </c:pt>
                <c:pt idx="2">
                  <c:v>67.9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5555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HealthConnect Clinic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803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Analytics &amp; Decision Support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20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Track  |  Week 8  |  AnalystLab Africa Experience Lab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D4A01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48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needs to understand why patients miss appointments, so it can reduce no-shows and use appointment slots more effectively.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can HealthConnect Clinic use data and AI to reduce missed appointments and improve the patient support experience?”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754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role: Data Analytics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1206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appointment data, quantify the problem, identify the strongest drivers, and turn findings into recommendations.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65176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1F386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35040" y="32004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48.5%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44348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appointments in the dataset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in a no-show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appointment records analysed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&amp; My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2E539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the appointment dataset in Power BI: fixed data types, handled missing values, engineered Lead Time Band, Distance Band and Prior No-Show Flag.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2E539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1371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05740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Investigated attendance patterns across lead time, prior history, distance, reminders and appointment type.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2E539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264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1371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05740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6 KPIs as DAX measures, each tied to a specific business question.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15400" y="137160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2E539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154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464040" y="1371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205740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the KPIs are stable over time and tested whether risk factors compound when combined.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Power BI (Power Query + DAX)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KPIs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011680" cy="1554480"/>
          </a:xfrm>
          <a:prstGeom prst="roundRect">
            <a:avLst>
              <a:gd name="adj" fmla="val 4118"/>
            </a:avLst>
          </a:prstGeom>
          <a:solidFill>
            <a:srgbClr val="1F38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48.46%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210312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No-Show Rate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88336" y="1188720"/>
            <a:ext cx="2011680" cy="1554480"/>
          </a:xfrm>
          <a:prstGeom prst="roundRect">
            <a:avLst>
              <a:gd name="adj" fmla="val 4118"/>
            </a:avLst>
          </a:prstGeom>
          <a:solidFill>
            <a:srgbClr val="F4F6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88336" y="13258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55.41%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761488" y="210312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No-Show Rate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28032" y="1188720"/>
            <a:ext cx="2011680" cy="1554480"/>
          </a:xfrm>
          <a:prstGeom prst="roundRect">
            <a:avLst>
              <a:gd name="adj" fmla="val 4118"/>
            </a:avLst>
          </a:prstGeom>
          <a:solidFill>
            <a:srgbClr val="F4F6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28032" y="13258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4.03 pts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901184" y="210312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Effectiveness Gap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67728" y="1188720"/>
            <a:ext cx="2011680" cy="1554480"/>
          </a:xfrm>
          <a:prstGeom prst="roundRect">
            <a:avLst>
              <a:gd name="adj" fmla="val 4118"/>
            </a:avLst>
          </a:prstGeom>
          <a:solidFill>
            <a:srgbClr val="F4F6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67728" y="13258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34.5 days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10312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Lead Time (No-Show)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07424" y="1188720"/>
            <a:ext cx="2011680" cy="1554480"/>
          </a:xfrm>
          <a:prstGeom prst="roundRect">
            <a:avLst>
              <a:gd name="adj" fmla="val 4118"/>
            </a:avLst>
          </a:prstGeom>
          <a:solidFill>
            <a:srgbClr val="F4F6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07424" y="13258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10.5 km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180576" y="210312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Distance (No-Show)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06324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FBF3E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Sixth KPI: The Combined Risk Segment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7947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67.9%</a:t>
            </a:r>
            <a:endParaRPr lang="en-US" sz="5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9377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 for patients booked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31+ days ahead WITH a prior no-show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4206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37947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E53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21.8%</a:t>
            </a:r>
            <a:endParaRPr lang="en-US" sz="5400" dirty="0"/>
          </a:p>
        </p:txBody>
      </p:sp>
      <p:sp>
        <p:nvSpPr>
          <p:cNvPr id="24" name="Text 22"/>
          <p:cNvSpPr txBox="1"/>
          <p:nvPr/>
        </p:nvSpPr>
        <p:spPr>
          <a:xfrm>
            <a:off x="5577840" y="49377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 for patients booked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0-7 days ahead with NO prior no-show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778240" y="41148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i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time and prior history don't just add up — they compound.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Finding: Risk Factors Compound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 by booking lead time, split by prior no-show history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110642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the combined high-risk segment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642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booked 31+ days ahead with a prior no-show should get the most intensive follow-up (e.g. a phone call).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4144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21.8% as a scheduling benchmark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7121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this as a target no-show rate for other patient segments.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94176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694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48456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December as a lead-time issue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78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shorter booking windows around year-end rather than a separate holiday programme.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901184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901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855464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Overall No-Show Rate going forward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8523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stable over time — the most dependable metric for measuring improvement.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Cross-Track Contribution &amp;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4F6F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3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 → Data Science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predictor ranking + the combined risk segment as a ready-to-use interaction feature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of features already used in their baseline model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prioritised lead time × prior history as a combined feature, rather than treating them independently.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2344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BEA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01168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Fictional, anonymized dataset — demonstrates approach, not real clinical fact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high-risk segment (n=1,015) not yet confirmed with formal significance testing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spike only partly explained; holiday effects not ruled out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reflects a snapshot, not live data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2026-09-26T12:36:18Z</dcterms:created>
  <dcterms:modified xsi:type="dcterms:W3CDTF">2026-09-26T12:36:18Z</dcterms:modified>
</cp:coreProperties>
</file>